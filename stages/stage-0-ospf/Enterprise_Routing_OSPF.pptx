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B173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0B1730"/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4572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g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2976" y="566928"/>
            <a:ext cx="1152144" cy="11521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488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51460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Routing: OSPF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937760" y="3657600"/>
            <a:ext cx="2313432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8404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GTech Academy Networking Curriculum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 •  Build  •  Innovate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3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548640" cy="5486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  •  SETTING THE SCENE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Routing: OSPF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4206240"/>
          </a:xfrm>
          <a:prstGeom prst="roundRect">
            <a:avLst>
              <a:gd name="adj" fmla="val 2174"/>
            </a:avLst>
          </a:prstGeom>
          <a:solidFill>
            <a:srgbClr val="E7EFFD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737360" y="1828800"/>
            <a:ext cx="9601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 got small and medium networks running smoothly with dynamic routing — but as companies grew into large enterprises with dozens of routers, RIP's weaknesses became serious problems: slow to adapt to change, and simply unable to scale past 15 hops.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in this course starts with a real story like this one — a real engineering problem that real people had to solve.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GTech Academy  •  Networking Curriculum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0" y="6547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3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548640" cy="5486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  •  VOCABULARY FIRST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You Need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13234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618488"/>
            <a:ext cx="502920" cy="73152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6479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Link-State Routing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router builds a complete map of the network, not just a neighbor's summary.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132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18488"/>
            <a:ext cx="502920" cy="73152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76479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OSPF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Shortest Path First — a fast-converging, scalable link-state routing protocol.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132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858768"/>
            <a:ext cx="502920" cy="73152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0507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of dividing an OSPF network into sections, reducing each router's workload.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3657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132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3858768"/>
            <a:ext cx="502920" cy="73152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00507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Metric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452628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OSPF's measure of a path's 'expense,' based on bandwidth — lower is preferred.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GTech Academy  •  Networking Curriculum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6547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3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548640" cy="5486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  •  THE PROBLEM, EXPLAINED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Concrete Example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71600" y="1920240"/>
            <a:ext cx="9445752" cy="3383280"/>
          </a:xfrm>
          <a:prstGeom prst="roundRect">
            <a:avLst>
              <a:gd name="adj" fmla="val 2703"/>
            </a:avLst>
          </a:prstGeom>
          <a:solidFill>
            <a:srgbClr val="FFF6E9"/>
          </a:solidFill>
          <a:ln w="12700">
            <a:solidFill>
              <a:srgbClr val="F0C8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1945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2606040"/>
            <a:ext cx="86868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has 60 routers connected across dozens of links. When one link fails, RIP takes too long to notice and adjust — meanwhile hop-count alone often picks a slower path over a faster one.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kind of situation engineers faced — and had to solve.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GTech Academy  •  Networking Curriculum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547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3840480" cy="3840480"/>
          </a:xfrm>
          <a:prstGeom prst="ellipse">
            <a:avLst/>
          </a:prstGeom>
          <a:solidFill>
            <a:srgbClr val="0B17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34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548640" cy="5486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  •  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the Fix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IS CALLED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OSPF (Open Shortest Path First)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1828800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2900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routers exchange detailed information about every link they know, building a complete internal map of the network and calculating the fastest path mathematically.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GTech Academy  •  Networking Curriculum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0" y="6547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3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548640" cy="5486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  •  HOW IT WORKS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by Step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05840" y="1645920"/>
            <a:ext cx="0" cy="40233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08760" y="1298448"/>
            <a:ext cx="9875520" cy="777240"/>
          </a:xfrm>
          <a:prstGeom prst="roundRect">
            <a:avLst>
              <a:gd name="adj" fmla="val 8235"/>
            </a:avLst>
          </a:prstGeom>
          <a:solidFill>
            <a:srgbClr val="E7EFFD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1298448"/>
            <a:ext cx="9464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OSPF router discovers its directly connected neighbors.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08760" y="2304288"/>
            <a:ext cx="9875520" cy="777240"/>
          </a:xfrm>
          <a:prstGeom prst="roundRect">
            <a:avLst>
              <a:gd name="adj" fmla="val 8235"/>
            </a:avLst>
          </a:prstGeom>
          <a:solidFill>
            <a:srgbClr val="E7EFFD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2304288"/>
            <a:ext cx="9464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exchange link-state information — describing every link and its cost.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08760" y="3310128"/>
            <a:ext cx="9875520" cy="777240"/>
          </a:xfrm>
          <a:prstGeom prst="roundRect">
            <a:avLst>
              <a:gd name="adj" fmla="val 8235"/>
            </a:avLst>
          </a:prstGeom>
          <a:solidFill>
            <a:srgbClr val="E7EFFD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3310128"/>
            <a:ext cx="9464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router uses this information to build an identical map of the network.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08760" y="4315968"/>
            <a:ext cx="9875520" cy="777240"/>
          </a:xfrm>
          <a:prstGeom prst="roundRect">
            <a:avLst>
              <a:gd name="adj" fmla="val 8235"/>
            </a:avLst>
          </a:prstGeom>
          <a:solidFill>
            <a:srgbClr val="E7EFFD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4315968"/>
            <a:ext cx="9464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router calculates the shortest path to every destination.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08760" y="5321808"/>
            <a:ext cx="9875520" cy="777240"/>
          </a:xfrm>
          <a:prstGeom prst="roundRect">
            <a:avLst>
              <a:gd name="adj" fmla="val 8235"/>
            </a:avLst>
          </a:prstGeom>
          <a:solidFill>
            <a:srgbClr val="E7EFFD"/>
          </a:solidFill>
          <a:ln/>
        </p:spPr>
      </p:sp>
      <p:sp>
        <p:nvSpPr>
          <p:cNvPr id="27" name="Text 25"/>
          <p:cNvSpPr/>
          <p:nvPr/>
        </p:nvSpPr>
        <p:spPr>
          <a:xfrm>
            <a:off x="1737360" y="5321808"/>
            <a:ext cx="9464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link changes, only that update is flooded — convergence is fast.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GTech Academy  •  Networking Curriculum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547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3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548640" cy="5486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  •  MAKING IT STICK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Analogy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10360152" cy="4114800"/>
          </a:xfrm>
          <a:prstGeom prst="roundRect">
            <a:avLst>
              <a:gd name="adj" fmla="val 2667"/>
            </a:avLst>
          </a:prstGeom>
          <a:solidFill>
            <a:srgbClr val="13234A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965960"/>
            <a:ext cx="685800" cy="6858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148840" y="2011680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it like a live traffic map instead of word-of-mouth directions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94457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 is like asking each neighbor which street they think is fastest. OSPF is like everyone sharing the same live traffic map, calculating the actual quickest route — and instantly rerouting if a road closes.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GTech Academy  •  Networking Curriculum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0" y="6547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3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548640" cy="5486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  •  HANDS-ON PRACTICE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 Tracer Lab — Detailed Steps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E7EF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7602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F6FED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60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417320"/>
            <a:ext cx="10040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multi-router topology (at least 3–4 routers) in Packet Tracer.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0403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F6FED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040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697480"/>
            <a:ext cx="10040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OSPF on each router and advertise connected networks.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E7EF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3205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F6FED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320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977640"/>
            <a:ext cx="10040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'show ip ospf neighbor' and 'show ip route' to confirm learning.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56007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F6FED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5600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257800"/>
            <a:ext cx="10040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link and time how quickly the network reconverges compared to RIP.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GTech Academy  •  Networking Curriculum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6547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3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548640" cy="5486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  •  WRAPPING 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438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What's Next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6309360" cy="4297680"/>
          </a:xfrm>
          <a:prstGeom prst="roundRect">
            <a:avLst>
              <a:gd name="adj" fmla="val 1915"/>
            </a:avLst>
          </a:prstGeom>
          <a:solidFill>
            <a:srgbClr val="E7EFF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1848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5669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5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is a link-state protocol — every router has a full map of the network.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5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not hop count, decides the best path, favoring faster links.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5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keep large networks organized and reduce processing overhead.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5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converges far faster than RIP, making it the enterprise standard.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416552" cy="4297680"/>
          </a:xfrm>
          <a:prstGeom prst="roundRect">
            <a:avLst>
              <a:gd name="adj" fmla="val 1915"/>
            </a:avLst>
          </a:prstGeom>
          <a:solidFill>
            <a:srgbClr val="2F6FED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691640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THE NEXT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0" y="2194560"/>
            <a:ext cx="386791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enterprise network runs smoothly — but how do thousands of independent organizations route to each other on the Internet?"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GTech Academy  •  Networking Curriculum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0" y="6547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2026-07-16T17:28:25Z</dcterms:created>
  <dcterms:modified xsi:type="dcterms:W3CDTF">2026-07-16T17:28:25Z</dcterms:modified>
</cp:coreProperties>
</file>